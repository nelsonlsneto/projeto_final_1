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Maiores bancadas (nº de deputados)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Deputados</c:v>
                </c:pt>
              </c:strCache>
            </c:strRef>
          </c:tx>
          <c:spPr>
            <a:solidFill>
              <a:srgbClr val="3ECF8E"/>
            </a:solidFill>
          </c:spPr>
          <c:cat>
            <c:strRef>
              <c:f>Sheet1!$A$2:$A$7</c:f>
              <c:strCache>
                <c:ptCount val="6"/>
                <c:pt idx="0">
                  <c:v>PL</c:v>
                </c:pt>
                <c:pt idx="1">
                  <c:v>PT</c:v>
                </c:pt>
                <c:pt idx="2">
                  <c:v>UNIÃO</c:v>
                </c:pt>
                <c:pt idx="3">
                  <c:v>PSD</c:v>
                </c:pt>
                <c:pt idx="4">
                  <c:v>PP</c:v>
                </c:pt>
                <c:pt idx="5">
                  <c:v>REP.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99</c:v>
                </c:pt>
                <c:pt idx="1">
                  <c:v>65</c:v>
                </c:pt>
                <c:pt idx="2">
                  <c:v>52</c:v>
                </c:pt>
                <c:pt idx="3">
                  <c:v>48</c:v>
                </c:pt>
                <c:pt idx="4">
                  <c:v>47</c:v>
                </c:pt>
                <c:pt idx="5">
                  <c:v>44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1E293B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960120"/>
            <a:ext cx="256032" cy="256032"/>
          </a:xfrm>
          <a:prstGeom prst="ellipse">
            <a:avLst/>
          </a:prstGeom>
          <a:solidFill>
            <a:srgbClr val="3EC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91440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3ECF8E"/>
                </a:solidFill>
                <a:latin typeface="Calibri"/>
              </a:rPr>
              <a:t>RADAR LEGISLATIVO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Inteligência legislativa,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automatizada, do dado ao e-mail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Calibri"/>
              </a:rPr>
              <a:t>por Pipe Crew · Projeto Integrador · Engenharia de Dados e 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14800"/>
            <a:ext cx="1051560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3891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ECF8E"/>
                </a:solidFill>
                <a:latin typeface="Calibri"/>
              </a:rPr>
              <a:t>O 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800600"/>
            <a:ext cx="6766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Calibri"/>
              </a:rPr>
              <a:t>513 deputados decidem pautas que afetam empresas toda semana. O dado é público, mas ninguém consegue acompanhar.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452628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E3B341"/>
                </a:solidFill>
                <a:latin typeface="Calibri"/>
              </a:rPr>
              <a:t>R$ 15 mil/mês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516636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  <a:latin typeface="Calibri"/>
              </a:rPr>
              <a:t>é o que consultorias cobram por relatórios feitos à mão por 2 analistas. Não escala.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A solução: um pipeline que faz o trabalho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de 2 analistas, sozinho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468880"/>
            <a:ext cx="3200400" cy="32004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" y="2788920"/>
            <a:ext cx="777240" cy="777240"/>
          </a:xfrm>
          <a:prstGeom prst="ellipse">
            <a:avLst/>
          </a:prstGeom>
          <a:solidFill>
            <a:srgbClr val="3EC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907792"/>
            <a:ext cx="777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9476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Captura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343400"/>
            <a:ext cx="2606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Calibri"/>
              </a:rPr>
              <a:t>Dados da API da Câmara dos Deputados, todos os dias, de forma automática.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2468880"/>
            <a:ext cx="3200400" cy="32004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37759" y="2788920"/>
            <a:ext cx="777240" cy="777240"/>
          </a:xfrm>
          <a:prstGeom prst="ellipse">
            <a:avLst/>
          </a:prstGeom>
          <a:solidFill>
            <a:srgbClr val="3EC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59" y="2907792"/>
            <a:ext cx="777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59" y="379476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Enriquece com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4343400"/>
            <a:ext cx="2606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Calibri"/>
              </a:rPr>
              <a:t>Resumo executivo das proposições: juridiquês vira 3 linhas claras (gpt-4o-mini).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2468880"/>
            <a:ext cx="3200400" cy="32004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732519" y="2788920"/>
            <a:ext cx="777240" cy="777240"/>
          </a:xfrm>
          <a:prstGeom prst="ellipse">
            <a:avLst/>
          </a:prstGeom>
          <a:solidFill>
            <a:srgbClr val="3EC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19" y="2907792"/>
            <a:ext cx="777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19" y="379476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Entrega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19" y="4343400"/>
            <a:ext cx="2606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Calibri"/>
              </a:rPr>
              <a:t>Relatório semanal por e-mail (n8n), pronto para o cliente, sem ninguém olhar.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Como funciona: Arquitetura Medalhão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64748B"/>
                </a:solidFill>
                <a:latin typeface="Calibri"/>
              </a:rPr>
              <a:t>Padrão de mercado: cada camada com uma responsabilidade clara.</a:t>
            </a:r>
          </a:p>
        </p:txBody>
      </p:sp>
      <p:pic>
        <p:nvPicPr>
          <p:cNvPr id="4" name="Picture 3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87" y="2743200"/>
            <a:ext cx="10789920" cy="12228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0F172A"/>
                </a:solidFill>
                <a:latin typeface="Calibri"/>
              </a:rPr>
              <a:t>Stack:  Python · Pandas · Supabase (PostgreSQL) · OpenAI · n8n · Git/GitHub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Dados reais: indicadores que ninguém 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3ECF8E"/>
                </a:solidFill>
                <a:latin typeface="Calibri"/>
              </a:rPr>
              <a:t>520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Calibri"/>
              </a:rPr>
              <a:t>deputados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141732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3ECF8E"/>
                </a:solidFill>
                <a:latin typeface="Calibri"/>
              </a:rPr>
              <a:t>11.109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22860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Calibri"/>
              </a:rPr>
              <a:t>despesas declaradas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41732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3ECF8E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2860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Calibri"/>
              </a:rPr>
              <a:t>tabelas no Supabase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2971800"/>
          <a:ext cx="566928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858000" y="2971800"/>
            <a:ext cx="4480560" cy="329184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32004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ECF8E"/>
                </a:solidFill>
                <a:latin typeface="Calibri"/>
              </a:rPr>
              <a:t>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3703320"/>
            <a:ext cx="38862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PL lidera com 99 deputados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Maior gasto: Divulgação parlamentar (R$ 5,9 mi)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Top gastador: Cleber Verde (MDB/MA): R$ 112 mil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Combustíveis: R$ 1,9 mi em cota parlamentar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 IA que vira produto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3ECF8E"/>
                </a:solidFill>
                <a:latin typeface="Calibri"/>
              </a:rPr>
              <a:t>Caminho B, resumo executivo: a ementa densa vira linguagem de negócio.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4754880" cy="2743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2402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4748B"/>
                </a:solidFill>
                <a:latin typeface="Calibri"/>
              </a:rPr>
              <a:t>ANTES: a ementa (juridiquês)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697480"/>
            <a:ext cx="4160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Calibri"/>
              </a:rPr>
              <a:t>“Parecer do Relator, Dep. Kim Kataguiri, pela compatibilidade e adequação financeira e orçamentária; e, no mérito, pela aprovação.”</a:t>
            </a:r>
          </a:p>
        </p:txBody>
      </p:sp>
      <p:sp>
        <p:nvSpPr>
          <p:cNvPr id="7" name="Oval 6"/>
          <p:cNvSpPr/>
          <p:nvPr/>
        </p:nvSpPr>
        <p:spPr>
          <a:xfrm>
            <a:off x="5806440" y="3154680"/>
            <a:ext cx="594360" cy="594360"/>
          </a:xfrm>
          <a:prstGeom prst="ellipse">
            <a:avLst/>
          </a:prstGeom>
          <a:solidFill>
            <a:srgbClr val="3EC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06440" y="3200400"/>
            <a:ext cx="594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0F172A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2011680"/>
            <a:ext cx="4709160" cy="2743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2402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ECF8E"/>
                </a:solidFill>
                <a:latin typeface="Calibri"/>
              </a:rPr>
              <a:t>DEPOIS: resumo da IA (gpt-4o-mini)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697480"/>
            <a:ext cx="4114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“O relator avaliou a proposta e concluiu que está em conformidade com as normas financeiras. Recomenda a aprovação. A proposta é viável e pode avançar.”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029200"/>
            <a:ext cx="10515600" cy="12801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2578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3ECF8E"/>
                </a:solidFill>
                <a:latin typeface="Calibri"/>
              </a:rPr>
              <a:t>No produto: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5257800"/>
            <a:ext cx="8412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É esse resumo que chega no e-mail do cliente toda semana.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Próximos passos</a:t>
            </a:r>
          </a:p>
        </p:txBody>
      </p:sp>
      <p:sp>
        <p:nvSpPr>
          <p:cNvPr id="3" name="Oval 2"/>
          <p:cNvSpPr/>
          <p:nvPr/>
        </p:nvSpPr>
        <p:spPr>
          <a:xfrm>
            <a:off x="868680" y="1901952"/>
            <a:ext cx="201168" cy="201168"/>
          </a:xfrm>
          <a:prstGeom prst="ellipse">
            <a:avLst/>
          </a:prstGeom>
          <a:solidFill>
            <a:srgbClr val="3EC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18288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Classificação por 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24028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Calibri"/>
              </a:rPr>
              <a:t>Embeddings para rotular cada proposição e gerar alertas por setor.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862072"/>
            <a:ext cx="201168" cy="201168"/>
          </a:xfrm>
          <a:prstGeom prst="ellipse">
            <a:avLst/>
          </a:prstGeom>
          <a:solidFill>
            <a:srgbClr val="3EC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7889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Dashboard de indicadores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20040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Calibri"/>
              </a:rPr>
              <a:t>Painel em tempo real: proposições, partidos, gastos.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822191"/>
            <a:ext cx="201168" cy="201168"/>
          </a:xfrm>
          <a:prstGeom prst="ellipse">
            <a:avLst/>
          </a:prstGeom>
          <a:solidFill>
            <a:srgbClr val="3EC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3749039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Histórico de 4 anos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1605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Calibri"/>
              </a:rPr>
              <a:t>Backfill completo + análise de tendências legislativas.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782312"/>
            <a:ext cx="201168" cy="201168"/>
          </a:xfrm>
          <a:prstGeom prst="ellipse">
            <a:avLst/>
          </a:prstGeom>
          <a:solidFill>
            <a:srgbClr val="3EC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4709159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Alertas em tempo real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12064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Calibri"/>
              </a:rPr>
              <a:t>Telegram/Slack quando entra pauta de tema crítico.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ECF8E"/>
                </a:solidFill>
                <a:latin typeface="Calibri"/>
              </a:rPr>
              <a:t>Pipe Crew · Radar Legislativo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